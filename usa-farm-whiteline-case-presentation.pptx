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ได้รับจริง</c:v>
                </c:pt>
              </c:strCache>
            </c:strRef>
          </c:tx>
          <c:spPr>
            <a:solidFill>
              <a:srgbClr val="C07A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DMI (กก./วัน)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12.29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ThaiNRC ต้องการ</c:v>
                </c:pt>
              </c:strCache>
            </c:strRef>
          </c:tx>
          <c:spPr>
            <a:solidFill>
              <a:srgbClr val="B34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DMI (กก./วัน)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ได้รับจริง</c:v>
                </c:pt>
              </c:strCache>
            </c:strRef>
          </c:tx>
          <c:spPr>
            <a:solidFill>
              <a:srgbClr val="C07A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CP (% DM)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ThaiNRC ต้องการ</c:v>
                </c:pt>
              </c:strCache>
            </c:strRef>
          </c:tx>
          <c:spPr>
            <a:solidFill>
              <a:srgbClr val="B34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CP (% DM)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011680"/>
            <a:ext cx="9445752" cy="457200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0116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D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Herd-level case investigation · hypothesis-generating, ไม่ใช่การพิสูจน์สาเหตุ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White Line Abscess ที่อุษาฟาร์ม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การสอบสวนโรคระดับฝูง — โครีดนม 3 ตัว + โคสาว 1 ตัว · 2 กันยายน 2569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เคสที่พบ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AF8F4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361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โครีดนม (lactating)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AF8F4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361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โคสาว (heifer)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AF8F4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5361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95528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 — white line abscess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1089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⚠️ 4 ตัวคือเคสที่สังเกตพบ (detected) ไม่ใช่ความชุก (prevalence) — ยังไม่ได้ทำ locomotion scoring ทั้งฝูง (40 ตัว)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คำถามของการสอบสวน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332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ข้อมูลอาหาร/PSPS/สภาพคอก อธิบายการเกิด white line abscess ได้อย่างไร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สูตรอาหารเพียงพอต่อความต้องการโภชนะหรือไม่ เทียบมาตรฐานไทย (ThaiNRC)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สาเหตุใดเป็นตัวขับหลัก สาเหตุใดเป็นเพียงปัจจัยโน้มนำ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ต้องเก็บข้อมูลอะไรเพิ่ม จึงจะยืนยันสาเหตุที่แท้จริงได้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ข้อมูลที่มี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สูตร TMR รายวัน (ชั่ง/นับจากฟาร์ม)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 PSPS ของ TMR (1 ซ้ำ)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395728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50545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สภาพคอก: โคลน/อุจจาระหมักหมม + เศษหินกรวด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2962656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07238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ยืนยันแล้ว: ไม่มีโปรแกรมแต่งกีบป้องกัน/footbath เลย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3529584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393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ยืนยันแล้ว: พื้นคอกโครีดพังเป็นหลุมเมื่อ ~2 สัปดาห์ก่อน (ซ่อมแล้ว)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096512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2062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องค์ประกอบอาหาร — จากตาราง ThaiNRC (ไม่ได้วิเคราะห์ตัวอย่างฟาร์มนี้)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663440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7731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BCS / DIM / parity / น้ำหนักตัว — ไม่มีข้อมูล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5230368"/>
            <a:ext cx="10195560" cy="0"/>
          </a:xfrm>
          <a:prstGeom prst="line">
            <a:avLst/>
          </a:prstGeom>
          <a:noFill/>
          <a:ln w="9525">
            <a:solidFill>
              <a:srgbClr val="E4DDD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4. สูตรอาหาร: ได้รับเทียบความต้องการ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37160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26480" y="137160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22960" y="489204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48920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✅ NDF ประมาณการ ~53.3% (เกณฑ์ &gt;33%) และ peNDF&gt;8 ~23.1% (เกณฑ์ Zebeli 18.5%) — ผ่านสบาย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623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เกณฑ์: ThaiNRC (2563) ตาราง 14.13, โครีด 450 กก., นม 12 กก./วัน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5. ผล PSPS — ขนาดอนุภาค TMR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ชั้นบน &gt;19มม. (เกณฑ์ 2–8%)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463040"/>
            <a:ext cx="6400800" cy="365760"/>
          </a:xfrm>
          <a:prstGeom prst="rect">
            <a:avLst/>
          </a:prstGeom>
          <a:solidFill>
            <a:srgbClr val="FAF8F4"/>
          </a:solidFill>
          <a:ln w="6350">
            <a:solidFill>
              <a:srgbClr val="E4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463040"/>
            <a:ext cx="2624328" cy="365760"/>
          </a:xfrm>
          <a:prstGeom prst="rect">
            <a:avLst/>
          </a:prstGeom>
          <a:solidFill>
            <a:srgbClr val="B3452F"/>
          </a:solidFill>
          <a:ln/>
        </p:spPr>
      </p:sp>
      <p:sp>
        <p:nvSpPr>
          <p:cNvPr id="8" name="Text 6"/>
          <p:cNvSpPr/>
          <p:nvPr/>
        </p:nvSpPr>
        <p:spPr>
          <a:xfrm>
            <a:off x="1046988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16.4% 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ชั้นกลาง &gt;8มม. (เกณฑ์ 30–50%)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2084832"/>
            <a:ext cx="6400800" cy="365760"/>
          </a:xfrm>
          <a:prstGeom prst="rect">
            <a:avLst/>
          </a:prstGeom>
          <a:solidFill>
            <a:srgbClr val="FAF8F4"/>
          </a:solidFill>
          <a:ln w="6350">
            <a:solidFill>
              <a:srgbClr val="E4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084832"/>
            <a:ext cx="4304538" cy="365760"/>
          </a:xfrm>
          <a:prstGeom prst="rect">
            <a:avLst/>
          </a:prstGeom>
          <a:solidFill>
            <a:srgbClr val="B34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0469880" y="20391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26.9% 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6609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ชั้นล่าง &gt;4มม. (เกณฑ์ 10–20%)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706624"/>
            <a:ext cx="6400800" cy="365760"/>
          </a:xfrm>
          <a:prstGeom prst="rect">
            <a:avLst/>
          </a:prstGeom>
          <a:solidFill>
            <a:srgbClr val="FAF8F4"/>
          </a:solidFill>
          <a:ln w="6350">
            <a:solidFill>
              <a:srgbClr val="E4D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706624"/>
            <a:ext cx="3600450" cy="365760"/>
          </a:xfrm>
          <a:prstGeom prst="rect">
            <a:avLst/>
          </a:prstGeom>
          <a:solidFill>
            <a:srgbClr val="B3452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69880" y="266090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22.5% 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826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ถาดล่าง &lt;4มม. (เกณฑ์ 30–40%)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3328416"/>
            <a:ext cx="6400800" cy="365760"/>
          </a:xfrm>
          <a:prstGeom prst="rect">
            <a:avLst/>
          </a:prstGeom>
          <a:solidFill>
            <a:srgbClr val="FAF8F4"/>
          </a:solidFill>
          <a:ln w="6350">
            <a:solidFill>
              <a:srgbClr val="E4D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3328416"/>
            <a:ext cx="5328666" cy="365760"/>
          </a:xfrm>
          <a:prstGeom prst="rect">
            <a:avLst/>
          </a:prstGeom>
          <a:solidFill>
            <a:srgbClr val="4A8A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9880" y="32826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A5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33.3% 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20624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2062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⟹ ชั้นบนสูงกว่าเกณฑ์ 2 เท่า = ความเสี่ยงคัดกิน (sorting) สูงมาก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ค่าที่วัดได้จริง n=1 (คู่มือ PSPS กำหนดให้ทำ ≥3 ซ้ำ — ยังไม่ทำ)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6. สภาพคอก vs. มกษ. 6402-2562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173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"หลังการตรวจสอบพื้นที่คอกพบว่ามีการหมักหมมของโคลนและอุจจาระ มีเศษหินกรวดปะปน"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❌ ข้อ 1.3.3 — พื้นต้องเรียบ ไม่ลื่น ระบายน้ำได้ดี — ผิดครบทั้ง 4 ประเด็นในข้อเดียว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❌ ข้อ 1.3.1 — ห้ามมีวัสดุแหลมคมในโรงเรือน — เศษหินกรวดคือวัสดุแข็งคมที่โคเหยียบทุกวัน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นี่คือหลักฐานที่แข็งแรงที่สุดในรายงาน — การสังเกตโดยตรง เทียบข้อกำหนดทางการของไทย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⭐ 7. ข้อมูลใหม่: พื้นคอกโครีดพังเป็นหลุม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94560"/>
            <a:ext cx="8961120" cy="0"/>
          </a:xfrm>
          <a:prstGeom prst="line">
            <a:avLst/>
          </a:prstGeom>
          <a:noFill/>
          <a:ln w="38100">
            <a:solidFill>
              <a:srgbClr val="E4D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2084832"/>
            <a:ext cx="219456" cy="219456"/>
          </a:xfrm>
          <a:prstGeom prst="ellipse">
            <a:avLst/>
          </a:prstGeom>
          <a:solidFill>
            <a:srgbClr val="B3452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พื้นพังเป็นหลุม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หินกรวดในหลุมจำนวนมาก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25312" y="2084832"/>
            <a:ext cx="219456" cy="219456"/>
          </a:xfrm>
          <a:prstGeom prst="ellipse">
            <a:avLst/>
          </a:prstGeom>
          <a:solidFill>
            <a:srgbClr val="C07A2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~2 สัปดาห์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22992" y="2084832"/>
            <a:ext cx="219456" cy="219456"/>
          </a:xfrm>
          <a:prstGeom prst="ellipse">
            <a:avLst/>
          </a:prstGeom>
          <a:solidFill>
            <a:srgbClr val="4A8A5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A5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ซ่อมพื้นแล้ว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(ปัจจุบัน)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29184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918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ตรงกับกลไกที่ตำรามาตรฐาน Blowey (1993/1998, หน้า 73) อธิบายไว้แทบคำต่อคำ: "damaged and pitted concrete...give rise to small stones which can become impacted in the white line"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⚠️ ยังไม่ยืนยัน: โคสาวที่ป่วยเคยเข้าคอกนี้หรือไม่ · 4 เคสเกิดในช่วงนี้พอดีหรือไม่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8. กายวิภาคของ White 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3291840" cy="3657600"/>
          </a:xfrm>
          <a:prstGeom prst="roundRect">
            <a:avLst>
              <a:gd name="adj" fmla="val 25000"/>
            </a:avLst>
          </a:prstGeom>
          <a:solidFill>
            <a:srgbClr val="FAF8F4"/>
          </a:solidFill>
          <a:ln w="31750">
            <a:solidFill>
              <a:srgbClr val="8A6D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72000"/>
            <a:ext cx="3291840" cy="320040"/>
          </a:xfrm>
          <a:prstGeom prst="rect">
            <a:avLst/>
          </a:prstGeom>
          <a:solidFill>
            <a:srgbClr val="B345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ผนังกีบ (Wall)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พื้นกีบ (Sole)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983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White 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4892040"/>
            <a:ext cx="548640" cy="-182880"/>
          </a:xfrm>
          <a:prstGeom prst="line">
            <a:avLst/>
          </a:prstGeom>
          <a:noFill/>
          <a:ln w="15875">
            <a:solidFill>
              <a:srgbClr val="B34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Cemented junction ระหว่าง horn ของผนังกีบกับพื้นกีบ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 pigment (จึงขาว) · ไม่มี horn tubules · keratinize ไม่สมบูรณ์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⟹ จุดอ่อนโดยธรรมชาติของกีบทุกกีบ ไม่ใช่แค่กีบผิดปกติ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(อ้างอิง: Blowey 1993/1998, หน้า 7-8, 39)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9. กลไกเชิงกล (Mechanical Pathway)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หินกรวด + โคลน/อุจจาระหมักหมม บนพื้นคอก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14984" y="1801368"/>
            <a:ext cx="0" cy="274320"/>
          </a:xfrm>
          <a:prstGeom prst="line">
            <a:avLst/>
          </a:prstGeom>
          <a:noFill/>
          <a:ln w="25400">
            <a:solidFill>
              <a:srgbClr val="E4DD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075688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02996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ความชื้นสะสม → เขากีบอ่อนตัว · พื้นลื่น → แรงเฉือนที่กีบเพิ่มขึ้น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14984" y="2459736"/>
            <a:ext cx="0" cy="274320"/>
          </a:xfrm>
          <a:prstGeom prst="line">
            <a:avLst/>
          </a:prstGeom>
          <a:noFill/>
          <a:ln w="25400">
            <a:solidFill>
              <a:srgbClr val="E4DDD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2734056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6883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White line แยกตัว จากแรงกด/แรงเฉือนของหินกรวด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14984" y="3118104"/>
            <a:ext cx="0" cy="274320"/>
          </a:xfrm>
          <a:prstGeom prst="line">
            <a:avLst/>
          </a:prstGeom>
          <a:noFill/>
          <a:ln w="25400">
            <a:solidFill>
              <a:srgbClr val="E4DDD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3392424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4670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สิ่งสกปรก + เชื้อแบคทีเรียแทรกเข้ารอยแยก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014984" y="3776472"/>
            <a:ext cx="0" cy="274320"/>
          </a:xfrm>
          <a:prstGeom prst="line">
            <a:avLst/>
          </a:prstGeom>
          <a:noFill/>
          <a:ln w="25400">
            <a:solidFill>
              <a:srgbClr val="E4DDD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00507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ติดเชื้อลุกลาม → หนองสะสม (abscess) → LAME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ซ้ำเติมด้วย: ไม่มีการแต่งกีบป้องกัน (กีบผิดรูปสะสม) + ไม่มี footbath (ไม่มีการฆ่าเชื้อเป็นระยะ)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10. ทำไมไม่ใช่ SARA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อาหารหยาบสูงถึง ~73% ของ DMI (SARA มักเกิดจากอาหารข้นสูง)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ถาดล่าง PSPS 33.3% ผ่านเกณฑ์ (เกณฑ์เตือน SARA คือ &gt;40%)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NDF ประมาณการ ~53% สูงกว่าเกณฑ์ ThaiNRC (&gt;33%) มาก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Concentrate:forage ~26:73 — ต่ำกว่าเกณฑ์อันตรายของ Blowey (60:40) มาก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ไม่มีการวัด rumen pH หรือ milk fat:protein ratio เลย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937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หลักฐานชี้ไปทาง under-nutrition + sorting มากกว่า SARA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11. การจัดลำดับสาเหตุ (Differential)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 พื้นคอกมีหินกรวด (mechanical)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536192"/>
            <a:ext cx="5943600" cy="320040"/>
          </a:xfrm>
          <a:prstGeom prst="rect">
            <a:avLst/>
          </a:prstGeom>
          <a:solidFill>
            <a:srgbClr val="B3452F"/>
          </a:solidFill>
          <a:ln/>
        </p:spPr>
      </p:sp>
      <p:sp>
        <p:nvSpPr>
          <p:cNvPr id="7" name="Text 5"/>
          <p:cNvSpPr/>
          <p:nvPr/>
        </p:nvSpPr>
        <p:spPr>
          <a:xfrm>
            <a:off x="1092708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🔴 สูงมาก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 ไม่มีแต่งกีบ/footbath ป้องกัน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221992"/>
            <a:ext cx="4754880" cy="320040"/>
          </a:xfrm>
          <a:prstGeom prst="rect">
            <a:avLst/>
          </a:prstGeom>
          <a:solidFill>
            <a:srgbClr val="C07A2A"/>
          </a:solidFill>
          <a:ln/>
        </p:spPr>
      </p:sp>
      <p:sp>
        <p:nvSpPr>
          <p:cNvPr id="10" name="Text 8"/>
          <p:cNvSpPr/>
          <p:nvPr/>
        </p:nvSpPr>
        <p:spPr>
          <a:xfrm>
            <a:off x="1092708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🟠 สูง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3. TMR particle size → sorting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907792"/>
            <a:ext cx="4754880" cy="320040"/>
          </a:xfrm>
          <a:prstGeom prst="rect">
            <a:avLst/>
          </a:prstGeom>
          <a:solidFill>
            <a:srgbClr val="C07A2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🟠 สูง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4. DM/CP ไม่พอ (under-nutrition)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593592"/>
            <a:ext cx="3863340" cy="320040"/>
          </a:xfrm>
          <a:prstGeom prst="rect">
            <a:avLst/>
          </a:prstGeom>
          <a:solidFill>
            <a:srgbClr val="C07A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7080" y="3520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🟠 ปานกลาง-สูง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5. บัฟเฟอร์/แร่ธาตุไม่พอ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4279392"/>
            <a:ext cx="2971800" cy="320040"/>
          </a:xfrm>
          <a:prstGeom prst="rect">
            <a:avLst/>
          </a:prstGeom>
          <a:solidFill>
            <a:srgbClr val="B99A2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708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9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🟡 ปานกลาง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ความยาวแท่ง = น้ำหนักหลักฐานเชิงคุณภาพ (ไม่ใช่ตัวเลขสถิติ) · เต็ม 10 อันดับในรายงาน §9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12. แผนภาพเชื่อมโยง: จากสาเหตุถึงผลลัพธ์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109728" cy="502920"/>
          </a:xfrm>
          <a:prstGeom prst="rect">
            <a:avLst/>
          </a:prstGeom>
          <a:solidFill>
            <a:srgbClr val="B34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17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พื้นคอกหินกรวด + ความชื้น (คอนกรีตแตกเป็นหลุม)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45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🔴 สูงมาก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12848"/>
            <a:ext cx="109728" cy="502920"/>
          </a:xfrm>
          <a:prstGeom prst="rect">
            <a:avLst/>
          </a:prstGeom>
          <a:solidFill>
            <a:srgbClr val="C07A2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671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ไม่มีแต่งกีบ + ไม่มี footbath ป้องกันเลย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532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🟠 สูง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962656"/>
            <a:ext cx="109728" cy="502920"/>
          </a:xfrm>
          <a:prstGeom prst="rect">
            <a:avLst/>
          </a:prstGeom>
          <a:solidFill>
            <a:srgbClr val="C07A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16936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TMR ชั้นบน 16.4% → การคัดกิน (sorting)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2826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🟠 สูง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712464"/>
            <a:ext cx="109728" cy="502920"/>
          </a:xfrm>
          <a:prstGeom prst="rect">
            <a:avLst/>
          </a:prstGeom>
          <a:solidFill>
            <a:srgbClr val="C07A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6674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DMI/CP ไม่พอ (under-nutrition)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4032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🟠 ปานกลาง-สูง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462272"/>
            <a:ext cx="109728" cy="502920"/>
          </a:xfrm>
          <a:prstGeom prst="rect">
            <a:avLst/>
          </a:prstGeom>
          <a:solidFill>
            <a:srgbClr val="B9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41655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บัฟเฟอร์/แร่ธาตุไม่พอ (หลักฐานอ่อน)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7823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9A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🟡 ปานกลาง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3383280"/>
            <a:ext cx="914400" cy="0"/>
          </a:xfrm>
          <a:prstGeom prst="line">
            <a:avLst/>
          </a:prstGeom>
          <a:noFill/>
          <a:ln w="50800">
            <a:solidFill>
              <a:srgbClr val="8A6D3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265176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FDF3E0"/>
          </a:solidFill>
          <a:ln w="25400">
            <a:solidFill>
              <a:srgbClr val="8A6D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6517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White 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อ่อนแอ + แยกตัว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ติดเชื้อ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69680" y="3383280"/>
            <a:ext cx="502920" cy="0"/>
          </a:xfrm>
          <a:prstGeom prst="line">
            <a:avLst/>
          </a:prstGeom>
          <a:noFill/>
          <a:ln w="63500">
            <a:solidFill>
              <a:srgbClr val="6B4F2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64040" y="265176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6B4F26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26517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Abscess → LAME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เคส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(3 โครีด + 1 โคสาว)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6309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ความหนาของเส้น/ความกว้างแถบ = น้ำหนักหลักฐานเชิงคุณภาพ ไม่ใช่สัดส่วนเชิงปริมาณ · สรุปจากรายงาน §8-9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13. ข้อจำกัดสำคัญ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3327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PSPS ทำเพียง 1 ซ้ำ (คู่มือกำหนด ≥3) — ยังไม่มีค่าความแปรปรวน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ไม่มีผลวิเคราะห์อาหารจริงจากห้องแล็บแม้แต่ค่าเดียว — ทุกค่าอิงตารางมาตรฐาน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ไม่ได้ทำ locomotion scoring ทั้งฝูง — 4 เคสยังไม่ใช่ความชุกที่แท้จริง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Cross-sectional เยี่ยมฟาร์มครั้งเดียว ไม่มีกลุ่มเปรียบเทียบ — บอกได้แค่ association ไม่ใช่ causation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14. ข้อเสนอแนะเชิงปฏิบัติ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ตรวจสอบว่าการซ่อมพื้นคอกโครีดเอาหินกรวดออกหมดจริงหรือไม่ + ตรวจคอกอื่น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เริ่มโปรแกรม footbath สม่ำเสมอ (ปัจจุบันไม่มีเลย)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จัดตารางแต่งกีบป้องกันอย่างน้อยปีละ 2 ครั้ง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สับฟางให้สั้นลง 2.5–5 ซม. เพื่อลด PSPS ชั้นบนและการคัดกิน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5743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15. สรุป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0789920" cy="0"/>
          </a:xfrm>
          <a:prstGeom prst="line">
            <a:avLst/>
          </a:prstGeom>
          <a:noFill/>
          <a:ln w="25400">
            <a:solidFill>
              <a:srgbClr val="8A6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พื้นคอกที่มีหินกรวด (ตอนนี้ทราบสาเหตุแล้ว: คอนกรีตแตกเป็นหลุม) คือหลักฐานที่แข็งแรงที่สุด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ซ้ำเติมด้วยการไม่มีโปรแกรมดูแลกีบป้องกันเลย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ขนาดอนุภาค TMR และแนวโน้ม under-nutrition เป็นปัจจัยโน้มนำ — ไม่ใช่ SARA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DF3E0"/>
          </a:solidFill>
          <a:ln w="12700">
            <a:solidFill>
              <a:srgbClr val="E0B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319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2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ทั้งหมดนี้ยังเป็นสมมติฐาน จนกว่าจะมี locomotion scoring ทั้งฝูงและติดตามอุบัติการณ์หลังซ่อมพื้น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4F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ขอบคุณครับ/ค่ะ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05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2026-09-03T11:26:42Z</dcterms:created>
  <dcterms:modified xsi:type="dcterms:W3CDTF">2026-09-03T11:26:42Z</dcterms:modified>
</cp:coreProperties>
</file>